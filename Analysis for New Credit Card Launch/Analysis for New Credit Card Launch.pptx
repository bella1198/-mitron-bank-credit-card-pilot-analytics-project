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7" r:id="rId1"/>
  </p:sldMasterIdLst>
  <p:notesMasterIdLst>
    <p:notesMasterId r:id="rId16"/>
  </p:notesMasterIdLst>
  <p:sldIdLst>
    <p:sldId id="256" r:id="rId2"/>
    <p:sldId id="257" r:id="rId3"/>
    <p:sldId id="258" r:id="rId4"/>
    <p:sldId id="259" r:id="rId5"/>
    <p:sldId id="266" r:id="rId6"/>
    <p:sldId id="263" r:id="rId7"/>
    <p:sldId id="273" r:id="rId8"/>
    <p:sldId id="264" r:id="rId9"/>
    <p:sldId id="269" r:id="rId10"/>
    <p:sldId id="261" r:id="rId11"/>
    <p:sldId id="272" r:id="rId12"/>
    <p:sldId id="262" r:id="rId13"/>
    <p:sldId id="267"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p:scale>
          <a:sx n="81" d="100"/>
          <a:sy n="81" d="100"/>
        </p:scale>
        <p:origin x="74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C063A8-AB87-4777-9F4D-F4E386FD3FF0}" type="datetimeFigureOut">
              <a:rPr lang="en-IN" smtClean="0"/>
              <a:t>27-10-2025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A8DE0-D825-4458-8BB9-DB07D3FCD35E}" type="slidenum">
              <a:rPr lang="en-IN" smtClean="0"/>
              <a:t>‹#›</a:t>
            </a:fld>
            <a:endParaRPr lang="en-IN"/>
          </a:p>
        </p:txBody>
      </p:sp>
    </p:spTree>
    <p:extLst>
      <p:ext uri="{BB962C8B-B14F-4D97-AF65-F5344CB8AC3E}">
        <p14:creationId xmlns:p14="http://schemas.microsoft.com/office/powerpoint/2010/main" val="209328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CA8DE0-D825-4458-8BB9-DB07D3FCD35E}" type="slidenum">
              <a:rPr lang="en-IN" smtClean="0"/>
              <a:t>6</a:t>
            </a:fld>
            <a:endParaRPr lang="en-IN"/>
          </a:p>
        </p:txBody>
      </p:sp>
    </p:spTree>
    <p:extLst>
      <p:ext uri="{BB962C8B-B14F-4D97-AF65-F5344CB8AC3E}">
        <p14:creationId xmlns:p14="http://schemas.microsoft.com/office/powerpoint/2010/main" val="2231828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3C9A-68E5-BA32-90D2-52139FD72E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CA7D32-66DD-B296-C9EB-A708A81FDE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FB87C8-5C9B-0588-E851-9214D74180B0}"/>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5" name="Footer Placeholder 4">
            <a:extLst>
              <a:ext uri="{FF2B5EF4-FFF2-40B4-BE49-F238E27FC236}">
                <a16:creationId xmlns:a16="http://schemas.microsoft.com/office/drawing/2014/main" id="{85CC2F83-A3BF-24F4-7493-9E65CCEF02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493EA-9B8B-58AD-1C6B-AEC13F39B63B}"/>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1623211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56F4-4B22-14DA-E96E-DECC10BD4B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D5BB1B-632E-514D-156E-C045C7823D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0B585A-01A9-589B-05EB-EE085A2D3C6A}"/>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5" name="Footer Placeholder 4">
            <a:extLst>
              <a:ext uri="{FF2B5EF4-FFF2-40B4-BE49-F238E27FC236}">
                <a16:creationId xmlns:a16="http://schemas.microsoft.com/office/drawing/2014/main" id="{83F5C2EE-EA23-5F97-9FD6-5D7C52B80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D96F61-8A01-2CC2-3020-21EFBF73FAC2}"/>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1666919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5B91-B766-DEC1-254A-D282AFDB1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ED42D2-50CF-8C74-3813-370A99D325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9F0AF1-4A62-4D0E-02C5-C0621D46FD81}"/>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5" name="Footer Placeholder 4">
            <a:extLst>
              <a:ext uri="{FF2B5EF4-FFF2-40B4-BE49-F238E27FC236}">
                <a16:creationId xmlns:a16="http://schemas.microsoft.com/office/drawing/2014/main" id="{F3331033-9982-22B4-3D9D-86D82B7CAE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4CF40A-B94C-95D1-22FF-2FF2B534535A}"/>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201910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921D5-B189-CEFE-DC80-6BC79B0FF3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27A0F0-C93B-A6D6-C4CB-9D45CAB92C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E36CC0-28FE-E490-83C7-D342A6B9B0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C8A05D-CEEE-9138-B4E4-9844E588A9BA}"/>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6" name="Footer Placeholder 5">
            <a:extLst>
              <a:ext uri="{FF2B5EF4-FFF2-40B4-BE49-F238E27FC236}">
                <a16:creationId xmlns:a16="http://schemas.microsoft.com/office/drawing/2014/main" id="{114FD3CA-8F92-7F72-AC9C-C42DDA96E6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5E81CE-310C-048D-5142-A816C5923BF8}"/>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3955165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73515-D26F-1C5B-244B-24178E04D3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D4E7BB-0430-6A88-66A8-0403C4CEC0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D3DDD6-67B9-4C0D-3595-312201FCBA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AC1431-460B-5CA9-710E-3418E70B23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BCCAA2-9DA3-9D4E-A345-BCCAEC3200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322F71-D354-4842-FC96-7A185C0A84BD}"/>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8" name="Footer Placeholder 7">
            <a:extLst>
              <a:ext uri="{FF2B5EF4-FFF2-40B4-BE49-F238E27FC236}">
                <a16:creationId xmlns:a16="http://schemas.microsoft.com/office/drawing/2014/main" id="{E0A3F928-DCC6-687F-87D9-6F0F46DFB7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04EA45-320C-4DE5-8E89-E46C0C0E57BC}"/>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3998894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80BEA-C285-021D-C7A8-ACE90E38B3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5A18D48-6826-99A8-3526-E627E707FF8E}"/>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4" name="Footer Placeholder 3">
            <a:extLst>
              <a:ext uri="{FF2B5EF4-FFF2-40B4-BE49-F238E27FC236}">
                <a16:creationId xmlns:a16="http://schemas.microsoft.com/office/drawing/2014/main" id="{B26A58C9-C628-61DD-6301-B751E81248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CBD4E74-02E1-8001-91BC-18817B8A7C4D}"/>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2302177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E20927-BF95-5987-FD7F-791D4B61C20C}"/>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3" name="Footer Placeholder 2">
            <a:extLst>
              <a:ext uri="{FF2B5EF4-FFF2-40B4-BE49-F238E27FC236}">
                <a16:creationId xmlns:a16="http://schemas.microsoft.com/office/drawing/2014/main" id="{32066074-90EA-358B-0EE1-B768FA1793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2BBBDB-C07E-28D1-C0BE-BD5719C8105D}"/>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1115643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6E0B-9B05-6DAD-AA43-A643312859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C2C91E-4BCE-FCBF-CEE1-E677379A8C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264EED-349D-6630-289B-4240E1679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36511-1B82-A199-BB64-E0351C9F89BB}"/>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6" name="Footer Placeholder 5">
            <a:extLst>
              <a:ext uri="{FF2B5EF4-FFF2-40B4-BE49-F238E27FC236}">
                <a16:creationId xmlns:a16="http://schemas.microsoft.com/office/drawing/2014/main" id="{93265E5C-83CA-58D4-04E1-7F04024C0A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35F42F-CBFA-273A-5684-8BAE34567703}"/>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37908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4B68-C9FC-C03E-826D-B71FC9561A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CE9D51-6A88-E890-502F-F2D8580AA5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DFFA65-CA2F-0FB3-1CFC-32A8FF328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9CC2ED-577E-3CF5-554D-9945EC487A87}"/>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6" name="Footer Placeholder 5">
            <a:extLst>
              <a:ext uri="{FF2B5EF4-FFF2-40B4-BE49-F238E27FC236}">
                <a16:creationId xmlns:a16="http://schemas.microsoft.com/office/drawing/2014/main" id="{16D42881-29D5-3891-90B4-4E36B643D13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7E7FA98-B7C3-0C4E-6058-9501FF602BF2}"/>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206055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1BEA-1840-FCC8-7281-7BB2B0175A7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96BF48-90BB-65E9-D019-615870E35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811C34-95EE-B47B-12F2-D6C06D865416}"/>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5" name="Footer Placeholder 4">
            <a:extLst>
              <a:ext uri="{FF2B5EF4-FFF2-40B4-BE49-F238E27FC236}">
                <a16:creationId xmlns:a16="http://schemas.microsoft.com/office/drawing/2014/main" id="{C2A9EAB8-80C2-F566-7BDF-78F5267C1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1079F7-547C-4A16-FCCD-8EEA64259E24}"/>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340112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F29139-E3D4-5276-6F29-C6788F0013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6CF83A-0F91-C3FF-97EA-D7025C248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CE1DCA-3F18-5260-4D4E-7B9BA645D80D}"/>
              </a:ext>
            </a:extLst>
          </p:cNvPr>
          <p:cNvSpPr>
            <a:spLocks noGrp="1"/>
          </p:cNvSpPr>
          <p:nvPr>
            <p:ph type="dt" sz="half" idx="10"/>
          </p:nvPr>
        </p:nvSpPr>
        <p:spPr/>
        <p:txBody>
          <a:bodyPr/>
          <a:lstStyle/>
          <a:p>
            <a:fld id="{7BF64F2A-097B-42AA-8436-AD569F79F2E9}" type="datetimeFigureOut">
              <a:rPr lang="en-IN" smtClean="0"/>
              <a:t>17-10-2025</a:t>
            </a:fld>
            <a:endParaRPr lang="en-IN"/>
          </a:p>
        </p:txBody>
      </p:sp>
      <p:sp>
        <p:nvSpPr>
          <p:cNvPr id="5" name="Footer Placeholder 4">
            <a:extLst>
              <a:ext uri="{FF2B5EF4-FFF2-40B4-BE49-F238E27FC236}">
                <a16:creationId xmlns:a16="http://schemas.microsoft.com/office/drawing/2014/main" id="{270E02BE-03F4-FCB4-E1A7-11DFFE91B0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7367F5-A613-05AC-F20F-96280D689723}"/>
              </a:ext>
            </a:extLst>
          </p:cNvPr>
          <p:cNvSpPr>
            <a:spLocks noGrp="1"/>
          </p:cNvSpPr>
          <p:nvPr>
            <p:ph type="sldNum" sz="quarter" idx="12"/>
          </p:nvPr>
        </p:nvSpPr>
        <p:spPr/>
        <p:txBody>
          <a:bodyPr/>
          <a:lstStyle/>
          <a:p>
            <a:fld id="{5783C920-2BF1-4C31-B56B-EDE51F535C4F}" type="slidenum">
              <a:rPr lang="en-IN" smtClean="0"/>
              <a:t>‹#›</a:t>
            </a:fld>
            <a:endParaRPr lang="en-IN"/>
          </a:p>
        </p:txBody>
      </p:sp>
    </p:spTree>
    <p:extLst>
      <p:ext uri="{BB962C8B-B14F-4D97-AF65-F5344CB8AC3E}">
        <p14:creationId xmlns:p14="http://schemas.microsoft.com/office/powerpoint/2010/main" val="4080715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596CAD-BB29-3A75-8B58-6ECEBA49DB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047F13-4DEE-DA7A-0570-BB48E3933E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225497-E80D-9FF5-17D7-39976CE440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64F2A-097B-42AA-8436-AD569F79F2E9}" type="datetimeFigureOut">
              <a:rPr lang="en-IN" smtClean="0"/>
              <a:t>17-10-2025</a:t>
            </a:fld>
            <a:endParaRPr lang="en-IN"/>
          </a:p>
        </p:txBody>
      </p:sp>
      <p:sp>
        <p:nvSpPr>
          <p:cNvPr id="5" name="Footer Placeholder 4">
            <a:extLst>
              <a:ext uri="{FF2B5EF4-FFF2-40B4-BE49-F238E27FC236}">
                <a16:creationId xmlns:a16="http://schemas.microsoft.com/office/drawing/2014/main" id="{B7E99848-07DF-8AC8-151B-9F9A21940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73857F-25BE-43F8-5255-D418DFCF69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3C920-2BF1-4C31-B56B-EDE51F535C4F}" type="slidenum">
              <a:rPr lang="en-IN" smtClean="0"/>
              <a:t>‹#›</a:t>
            </a:fld>
            <a:endParaRPr lang="en-IN"/>
          </a:p>
        </p:txBody>
      </p:sp>
    </p:spTree>
    <p:extLst>
      <p:ext uri="{BB962C8B-B14F-4D97-AF65-F5344CB8AC3E}">
        <p14:creationId xmlns:p14="http://schemas.microsoft.com/office/powerpoint/2010/main" val="3590965543"/>
      </p:ext>
    </p:extLst>
  </p:cSld>
  <p:clrMap bg1="lt1" tx1="dk1" bg2="lt2" tx2="dk2" accent1="accent1" accent2="accent2" accent3="accent3" accent4="accent4" accent5="accent5" accent6="accent6" hlink="hlink" folHlink="fol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56" r:id="rId9"/>
    <p:sldLayoutId id="2147483957" r:id="rId10"/>
    <p:sldLayoutId id="21474839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A227-0766-44CC-6C04-414A25E0A739}"/>
              </a:ext>
            </a:extLst>
          </p:cNvPr>
          <p:cNvSpPr>
            <a:spLocks noGrp="1"/>
          </p:cNvSpPr>
          <p:nvPr>
            <p:ph type="ctrTitle"/>
          </p:nvPr>
        </p:nvSpPr>
        <p:spPr>
          <a:xfrm>
            <a:off x="1454426" y="1828041"/>
            <a:ext cx="9144000" cy="2387600"/>
          </a:xfrm>
        </p:spPr>
        <p:txBody>
          <a:bodyPr>
            <a:normAutofit fontScale="90000"/>
          </a:bodyPr>
          <a:lstStyle/>
          <a:p>
            <a:r>
              <a:rPr lang="en-US" b="1" dirty="0">
                <a:solidFill>
                  <a:schemeClr val="accent1">
                    <a:lumMod val="75000"/>
                  </a:schemeClr>
                </a:solidFill>
                <a:latin typeface="Arial" panose="020B0604020202020204" pitchFamily="34" charset="0"/>
                <a:cs typeface="Arial" panose="020B0604020202020204" pitchFamily="34" charset="0"/>
              </a:rPr>
              <a:t>Mitron Bank: Analysis for New Credit Card Launch</a:t>
            </a:r>
            <a:endParaRPr lang="en-IN" b="1" dirty="0">
              <a:solidFill>
                <a:schemeClr val="accent1">
                  <a:lumMod val="75000"/>
                </a:schemeClr>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B389C59C-4A1D-9E3F-6729-72396482E2CD}"/>
              </a:ext>
            </a:extLst>
          </p:cNvPr>
          <p:cNvSpPr>
            <a:spLocks noGrp="1"/>
          </p:cNvSpPr>
          <p:nvPr>
            <p:ph type="subTitle" idx="1"/>
          </p:nvPr>
        </p:nvSpPr>
        <p:spPr>
          <a:xfrm>
            <a:off x="1454426" y="4287838"/>
            <a:ext cx="9144000" cy="1655762"/>
          </a:xfrm>
        </p:spPr>
        <p:txBody>
          <a:bodyPr/>
          <a:lstStyle/>
          <a:p>
            <a:endParaRPr lang="en-IN"/>
          </a:p>
        </p:txBody>
      </p:sp>
    </p:spTree>
    <p:extLst>
      <p:ext uri="{BB962C8B-B14F-4D97-AF65-F5344CB8AC3E}">
        <p14:creationId xmlns:p14="http://schemas.microsoft.com/office/powerpoint/2010/main" val="106021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EA5A-B6D8-74C1-3F06-DDFBA27431EA}"/>
              </a:ext>
            </a:extLst>
          </p:cNvPr>
          <p:cNvSpPr>
            <a:spLocks noGrp="1"/>
          </p:cNvSpPr>
          <p:nvPr>
            <p:ph type="title"/>
          </p:nvPr>
        </p:nvSpPr>
        <p:spPr>
          <a:xfrm>
            <a:off x="1168138" y="783195"/>
            <a:ext cx="10515600" cy="1325563"/>
          </a:xfrm>
        </p:spPr>
        <p:txBody>
          <a:bodyPr>
            <a:normAutofit/>
          </a:bodyPr>
          <a:lstStyle/>
          <a:p>
            <a:r>
              <a:rPr lang="en-US" sz="3200" b="1" dirty="0">
                <a:solidFill>
                  <a:schemeClr val="accent1">
                    <a:lumMod val="75000"/>
                  </a:schemeClr>
                </a:solidFill>
                <a:latin typeface="+mn-lt"/>
              </a:rPr>
              <a:t>Objective</a:t>
            </a:r>
            <a:endParaRPr lang="en-IN" sz="3200" b="1"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id="{8C8B6433-00F3-81EC-D384-EAB5255688B6}"/>
              </a:ext>
            </a:extLst>
          </p:cNvPr>
          <p:cNvSpPr>
            <a:spLocks noGrp="1"/>
          </p:cNvSpPr>
          <p:nvPr>
            <p:ph idx="1"/>
          </p:nvPr>
        </p:nvSpPr>
        <p:spPr>
          <a:xfrm>
            <a:off x="1798982" y="2108758"/>
            <a:ext cx="8594035" cy="2060575"/>
          </a:xfrm>
        </p:spPr>
        <p:txBody>
          <a:bodyPr>
            <a:normAutofit/>
          </a:bodyPr>
          <a:lstStyle/>
          <a:p>
            <a:r>
              <a:rPr lang="en-US" sz="2000" dirty="0">
                <a:solidFill>
                  <a:schemeClr val="accent1">
                    <a:lumMod val="75000"/>
                  </a:schemeClr>
                </a:solidFill>
              </a:rPr>
              <a:t>To introduce a new line of credit cards, aiming to broaden its product offerings and reach in the financial market</a:t>
            </a:r>
          </a:p>
          <a:p>
            <a:r>
              <a:rPr lang="en-US" sz="2000" dirty="0">
                <a:solidFill>
                  <a:schemeClr val="accent1">
                    <a:lumMod val="75000"/>
                  </a:schemeClr>
                </a:solidFill>
              </a:rPr>
              <a:t>To guide them in tailoring the credit cards to customer needs and market trends. </a:t>
            </a:r>
            <a:br>
              <a:rPr lang="en-US" dirty="0"/>
            </a:br>
            <a:endParaRPr lang="en-IN" dirty="0"/>
          </a:p>
        </p:txBody>
      </p:sp>
    </p:spTree>
    <p:extLst>
      <p:ext uri="{BB962C8B-B14F-4D97-AF65-F5344CB8AC3E}">
        <p14:creationId xmlns:p14="http://schemas.microsoft.com/office/powerpoint/2010/main" val="355912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0A02-3F57-575A-B16C-7CCBE34B2213}"/>
              </a:ext>
            </a:extLst>
          </p:cNvPr>
          <p:cNvSpPr>
            <a:spLocks noGrp="1"/>
          </p:cNvSpPr>
          <p:nvPr>
            <p:ph type="title"/>
          </p:nvPr>
        </p:nvSpPr>
        <p:spPr>
          <a:xfrm>
            <a:off x="647722" y="833671"/>
            <a:ext cx="10515600" cy="618849"/>
          </a:xfrm>
        </p:spPr>
        <p:txBody>
          <a:bodyPr>
            <a:normAutofit/>
          </a:bodyPr>
          <a:lstStyle/>
          <a:p>
            <a:r>
              <a:rPr lang="en-US" sz="3200" b="1" dirty="0">
                <a:solidFill>
                  <a:schemeClr val="accent1">
                    <a:lumMod val="75000"/>
                  </a:schemeClr>
                </a:solidFill>
                <a:latin typeface="+mn-lt"/>
              </a:rPr>
              <a:t>Sample Dataset</a:t>
            </a:r>
            <a:endParaRPr lang="en-IN" sz="3200" b="1"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id="{388E3CED-BCF3-8402-2BC5-62EB58B1885C}"/>
              </a:ext>
            </a:extLst>
          </p:cNvPr>
          <p:cNvSpPr>
            <a:spLocks noGrp="1"/>
          </p:cNvSpPr>
          <p:nvPr>
            <p:ph idx="1"/>
          </p:nvPr>
        </p:nvSpPr>
        <p:spPr>
          <a:xfrm>
            <a:off x="1084653" y="1928176"/>
            <a:ext cx="10022694" cy="4648120"/>
          </a:xfrm>
        </p:spPr>
        <p:txBody>
          <a:bodyPr>
            <a:normAutofit/>
          </a:bodyPr>
          <a:lstStyle/>
          <a:p>
            <a:pPr marL="0" indent="0">
              <a:buNone/>
            </a:pPr>
            <a:r>
              <a:rPr lang="en-US" sz="2000" dirty="0">
                <a:solidFill>
                  <a:schemeClr val="accent1">
                    <a:lumMod val="75000"/>
                  </a:schemeClr>
                </a:solidFill>
              </a:rPr>
              <a:t>They provided a sample dataset of 4000 customers across five cities on their online spending and other details. </a:t>
            </a:r>
          </a:p>
          <a:p>
            <a:pPr marL="0" indent="0">
              <a:buNone/>
            </a:pPr>
            <a:endParaRPr lang="en-US" dirty="0"/>
          </a:p>
          <a:p>
            <a:pPr marL="0" indent="0">
              <a:buNone/>
            </a:pPr>
            <a:br>
              <a:rPr lang="en-US" dirty="0"/>
            </a:br>
            <a:endParaRPr lang="en-IN" dirty="0"/>
          </a:p>
        </p:txBody>
      </p:sp>
      <p:pic>
        <p:nvPicPr>
          <p:cNvPr id="5" name="Picture 4">
            <a:extLst>
              <a:ext uri="{FF2B5EF4-FFF2-40B4-BE49-F238E27FC236}">
                <a16:creationId xmlns:a16="http://schemas.microsoft.com/office/drawing/2014/main" id="{C573FF8C-13A8-8746-33B0-5BEFFD9D30A2}"/>
              </a:ext>
            </a:extLst>
          </p:cNvPr>
          <p:cNvPicPr>
            <a:picLocks noChangeAspect="1"/>
          </p:cNvPicPr>
          <p:nvPr/>
        </p:nvPicPr>
        <p:blipFill>
          <a:blip r:embed="rId2"/>
          <a:stretch>
            <a:fillRect/>
          </a:stretch>
        </p:blipFill>
        <p:spPr>
          <a:xfrm>
            <a:off x="647722" y="3336519"/>
            <a:ext cx="4722724" cy="2378385"/>
          </a:xfrm>
          <a:prstGeom prst="rect">
            <a:avLst/>
          </a:prstGeom>
        </p:spPr>
      </p:pic>
      <p:pic>
        <p:nvPicPr>
          <p:cNvPr id="7" name="Picture 6">
            <a:extLst>
              <a:ext uri="{FF2B5EF4-FFF2-40B4-BE49-F238E27FC236}">
                <a16:creationId xmlns:a16="http://schemas.microsoft.com/office/drawing/2014/main" id="{BA9806F2-7DF0-EF26-85F2-01B332BB34DD}"/>
              </a:ext>
            </a:extLst>
          </p:cNvPr>
          <p:cNvPicPr>
            <a:picLocks noChangeAspect="1"/>
          </p:cNvPicPr>
          <p:nvPr/>
        </p:nvPicPr>
        <p:blipFill>
          <a:blip r:embed="rId3"/>
          <a:stretch>
            <a:fillRect/>
          </a:stretch>
        </p:blipFill>
        <p:spPr>
          <a:xfrm>
            <a:off x="5711944" y="4569006"/>
            <a:ext cx="6187826" cy="754613"/>
          </a:xfrm>
          <a:prstGeom prst="rect">
            <a:avLst/>
          </a:prstGeom>
        </p:spPr>
      </p:pic>
      <p:pic>
        <p:nvPicPr>
          <p:cNvPr id="9" name="Picture 8">
            <a:extLst>
              <a:ext uri="{FF2B5EF4-FFF2-40B4-BE49-F238E27FC236}">
                <a16:creationId xmlns:a16="http://schemas.microsoft.com/office/drawing/2014/main" id="{28112843-2631-2BB6-7AFA-40908D9E68ED}"/>
              </a:ext>
            </a:extLst>
          </p:cNvPr>
          <p:cNvPicPr>
            <a:picLocks noChangeAspect="1"/>
          </p:cNvPicPr>
          <p:nvPr/>
        </p:nvPicPr>
        <p:blipFill>
          <a:blip r:embed="rId4"/>
          <a:stretch>
            <a:fillRect/>
          </a:stretch>
        </p:blipFill>
        <p:spPr>
          <a:xfrm>
            <a:off x="5711944" y="3429000"/>
            <a:ext cx="4314073" cy="823236"/>
          </a:xfrm>
          <a:prstGeom prst="rect">
            <a:avLst/>
          </a:prstGeom>
        </p:spPr>
      </p:pic>
    </p:spTree>
    <p:extLst>
      <p:ext uri="{BB962C8B-B14F-4D97-AF65-F5344CB8AC3E}">
        <p14:creationId xmlns:p14="http://schemas.microsoft.com/office/powerpoint/2010/main" val="1388798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3D01A-582C-06FE-386E-53CDDCC434B2}"/>
              </a:ext>
            </a:extLst>
          </p:cNvPr>
          <p:cNvSpPr>
            <a:spLocks noGrp="1"/>
          </p:cNvSpPr>
          <p:nvPr>
            <p:ph type="title"/>
          </p:nvPr>
        </p:nvSpPr>
        <p:spPr>
          <a:xfrm>
            <a:off x="602528" y="790151"/>
            <a:ext cx="10214113" cy="658605"/>
          </a:xfrm>
        </p:spPr>
        <p:txBody>
          <a:bodyPr>
            <a:normAutofit/>
          </a:bodyPr>
          <a:lstStyle/>
          <a:p>
            <a:r>
              <a:rPr lang="en-US" sz="3200" b="1" dirty="0">
                <a:solidFill>
                  <a:schemeClr val="accent1">
                    <a:lumMod val="75000"/>
                  </a:schemeClr>
                </a:solidFill>
                <a:latin typeface="+mn-lt"/>
              </a:rPr>
              <a:t>Project Requirements</a:t>
            </a:r>
            <a:endParaRPr lang="en-IN" sz="3200" b="1"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id="{C2C1D9E8-3662-7E71-7CA7-D355BCE2EC0A}"/>
              </a:ext>
            </a:extLst>
          </p:cNvPr>
          <p:cNvSpPr>
            <a:spLocks noGrp="1"/>
          </p:cNvSpPr>
          <p:nvPr>
            <p:ph idx="1"/>
          </p:nvPr>
        </p:nvSpPr>
        <p:spPr>
          <a:xfrm>
            <a:off x="863730" y="1705126"/>
            <a:ext cx="10464539" cy="4186628"/>
          </a:xfrm>
        </p:spPr>
        <p:txBody>
          <a:bodyPr>
            <a:normAutofit/>
          </a:bodyPr>
          <a:lstStyle/>
          <a:p>
            <a:pPr>
              <a:buFont typeface="Wingdings" panose="05000000000000000000" pitchFamily="2" charset="2"/>
              <a:buChar char="ü"/>
            </a:pPr>
            <a:r>
              <a:rPr lang="en-US" sz="1800" b="1" dirty="0">
                <a:solidFill>
                  <a:schemeClr val="accent1">
                    <a:lumMod val="75000"/>
                  </a:schemeClr>
                </a:solidFill>
              </a:rPr>
              <a:t>Demographic classification: </a:t>
            </a:r>
            <a:r>
              <a:rPr lang="en-US" sz="1800" dirty="0">
                <a:solidFill>
                  <a:schemeClr val="accent1">
                    <a:lumMod val="75000"/>
                  </a:schemeClr>
                </a:solidFill>
              </a:rPr>
              <a:t>Classify the customers based on available demography such as age group, gender, occupation etc. and provide insights based on them. </a:t>
            </a:r>
          </a:p>
          <a:p>
            <a:pPr>
              <a:buFont typeface="Wingdings" panose="05000000000000000000" pitchFamily="2" charset="2"/>
              <a:buChar char="ü"/>
            </a:pPr>
            <a:r>
              <a:rPr lang="en-US" sz="1800" b="1" dirty="0">
                <a:solidFill>
                  <a:schemeClr val="accent1">
                    <a:lumMod val="75000"/>
                  </a:schemeClr>
                </a:solidFill>
              </a:rPr>
              <a:t>Avg income </a:t>
            </a:r>
            <a:r>
              <a:rPr lang="en-US" sz="1800" b="1" dirty="0" err="1">
                <a:solidFill>
                  <a:schemeClr val="accent1">
                    <a:lumMod val="75000"/>
                  </a:schemeClr>
                </a:solidFill>
              </a:rPr>
              <a:t>utilisation</a:t>
            </a:r>
            <a:r>
              <a:rPr lang="en-US" sz="1800" b="1" dirty="0">
                <a:solidFill>
                  <a:schemeClr val="accent1">
                    <a:lumMod val="75000"/>
                  </a:schemeClr>
                </a:solidFill>
              </a:rPr>
              <a:t> %: </a:t>
            </a:r>
            <a:r>
              <a:rPr lang="en-US" sz="1800" dirty="0">
                <a:solidFill>
                  <a:schemeClr val="accent1">
                    <a:lumMod val="75000"/>
                  </a:schemeClr>
                </a:solidFill>
              </a:rPr>
              <a:t>Find the average income </a:t>
            </a:r>
            <a:r>
              <a:rPr lang="en-US" sz="1800" dirty="0" err="1">
                <a:solidFill>
                  <a:schemeClr val="accent1">
                    <a:lumMod val="75000"/>
                  </a:schemeClr>
                </a:solidFill>
              </a:rPr>
              <a:t>utilisation</a:t>
            </a:r>
            <a:r>
              <a:rPr lang="en-US" sz="1800" dirty="0">
                <a:solidFill>
                  <a:schemeClr val="accent1">
                    <a:lumMod val="75000"/>
                  </a:schemeClr>
                </a:solidFill>
              </a:rPr>
              <a:t> % of customers (</a:t>
            </a:r>
            <a:r>
              <a:rPr lang="en-US" sz="1800" dirty="0" err="1">
                <a:solidFill>
                  <a:schemeClr val="accent1">
                    <a:lumMod val="75000"/>
                  </a:schemeClr>
                </a:solidFill>
              </a:rPr>
              <a:t>avg_spends</a:t>
            </a:r>
            <a:r>
              <a:rPr lang="en-US" sz="1800" dirty="0">
                <a:solidFill>
                  <a:schemeClr val="accent1">
                    <a:lumMod val="75000"/>
                  </a:schemeClr>
                </a:solidFill>
              </a:rPr>
              <a:t>/</a:t>
            </a:r>
            <a:r>
              <a:rPr lang="en-US" sz="1800" dirty="0" err="1">
                <a:solidFill>
                  <a:schemeClr val="accent1">
                    <a:lumMod val="75000"/>
                  </a:schemeClr>
                </a:solidFill>
              </a:rPr>
              <a:t>avg_income</a:t>
            </a:r>
            <a:r>
              <a:rPr lang="en-US" sz="1800" dirty="0">
                <a:solidFill>
                  <a:schemeClr val="accent1">
                    <a:lumMod val="75000"/>
                  </a:schemeClr>
                </a:solidFill>
              </a:rPr>
              <a:t>). This will be your key metric. The higher the average income </a:t>
            </a:r>
            <a:r>
              <a:rPr lang="en-US" sz="1800" dirty="0" err="1">
                <a:solidFill>
                  <a:schemeClr val="accent1">
                    <a:lumMod val="75000"/>
                  </a:schemeClr>
                </a:solidFill>
              </a:rPr>
              <a:t>utilisation</a:t>
            </a:r>
            <a:r>
              <a:rPr lang="en-US" sz="1800" dirty="0">
                <a:solidFill>
                  <a:schemeClr val="accent1">
                    <a:lumMod val="75000"/>
                  </a:schemeClr>
                </a:solidFill>
              </a:rPr>
              <a:t> %, the more is their likelihood to use credit cards.</a:t>
            </a:r>
          </a:p>
          <a:p>
            <a:pPr>
              <a:buFont typeface="Wingdings" panose="05000000000000000000" pitchFamily="2" charset="2"/>
              <a:buChar char="ü"/>
            </a:pPr>
            <a:r>
              <a:rPr lang="en-US" sz="1800" b="1" dirty="0">
                <a:solidFill>
                  <a:schemeClr val="accent1">
                    <a:lumMod val="75000"/>
                  </a:schemeClr>
                </a:solidFill>
              </a:rPr>
              <a:t>Spending Insights: </a:t>
            </a:r>
            <a:r>
              <a:rPr lang="en-US" sz="1800" dirty="0">
                <a:solidFill>
                  <a:schemeClr val="accent1">
                    <a:lumMod val="75000"/>
                  </a:schemeClr>
                </a:solidFill>
              </a:rPr>
              <a:t>Where do people spend money the most? Does it have any impact due to occupation, gender, city, age etc.? This can help you to add relevant credit card features for specific target groups.</a:t>
            </a:r>
          </a:p>
          <a:p>
            <a:pPr>
              <a:buFont typeface="Wingdings" panose="05000000000000000000" pitchFamily="2" charset="2"/>
              <a:buChar char="ü"/>
            </a:pPr>
            <a:r>
              <a:rPr lang="en-US" sz="1800" b="1" dirty="0">
                <a:solidFill>
                  <a:schemeClr val="accent1">
                    <a:lumMod val="75000"/>
                  </a:schemeClr>
                </a:solidFill>
              </a:rPr>
              <a:t>Key Customer Segments: </a:t>
            </a:r>
            <a:r>
              <a:rPr lang="en-US" sz="1800" dirty="0">
                <a:solidFill>
                  <a:schemeClr val="accent1">
                    <a:lumMod val="75000"/>
                  </a:schemeClr>
                </a:solidFill>
              </a:rPr>
              <a:t>By doing above, you should be able to identify and profile key customer segments that are likely to be the highest-value users of the new credit cards. This includes understanding their demographics, spending </a:t>
            </a:r>
            <a:r>
              <a:rPr lang="en-US" sz="1800" dirty="0" err="1">
                <a:solidFill>
                  <a:schemeClr val="accent1">
                    <a:lumMod val="75000"/>
                  </a:schemeClr>
                </a:solidFill>
              </a:rPr>
              <a:t>behaviours</a:t>
            </a:r>
            <a:r>
              <a:rPr lang="en-US" sz="1800" dirty="0">
                <a:solidFill>
                  <a:schemeClr val="accent1">
                    <a:lumMod val="75000"/>
                  </a:schemeClr>
                </a:solidFill>
              </a:rPr>
              <a:t>, and financial preferences.</a:t>
            </a:r>
          </a:p>
          <a:p>
            <a:pPr>
              <a:buFont typeface="Wingdings" panose="05000000000000000000" pitchFamily="2" charset="2"/>
              <a:buChar char="ü"/>
            </a:pPr>
            <a:r>
              <a:rPr lang="en-US" sz="1800" b="1" dirty="0">
                <a:solidFill>
                  <a:schemeClr val="accent1">
                    <a:lumMod val="75000"/>
                  </a:schemeClr>
                </a:solidFill>
              </a:rPr>
              <a:t>Credit Card Feature Recommendations: </a:t>
            </a:r>
            <a:r>
              <a:rPr lang="en-US" sz="1800" dirty="0">
                <a:solidFill>
                  <a:schemeClr val="accent1">
                    <a:lumMod val="75000"/>
                  </a:schemeClr>
                </a:solidFill>
              </a:rPr>
              <a:t>Provide recommendations on what key features should be included in the credit card which will improve the likelihood of credit card usage. This should be backed by the insights from data provided and also some secondary research on the internet for this.</a:t>
            </a:r>
            <a:endParaRPr lang="en-IN" sz="1800" dirty="0">
              <a:solidFill>
                <a:schemeClr val="accent1">
                  <a:lumMod val="75000"/>
                </a:schemeClr>
              </a:solidFill>
            </a:endParaRPr>
          </a:p>
        </p:txBody>
      </p:sp>
    </p:spTree>
    <p:extLst>
      <p:ext uri="{BB962C8B-B14F-4D97-AF65-F5344CB8AC3E}">
        <p14:creationId xmlns:p14="http://schemas.microsoft.com/office/powerpoint/2010/main" val="53676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8AB11-E555-E96B-D3B2-53FFD7636AE1}"/>
              </a:ext>
            </a:extLst>
          </p:cNvPr>
          <p:cNvSpPr>
            <a:spLocks noGrp="1"/>
          </p:cNvSpPr>
          <p:nvPr>
            <p:ph type="title"/>
          </p:nvPr>
        </p:nvSpPr>
        <p:spPr>
          <a:xfrm>
            <a:off x="376286" y="295638"/>
            <a:ext cx="10412896" cy="668545"/>
          </a:xfrm>
        </p:spPr>
        <p:txBody>
          <a:bodyPr>
            <a:normAutofit/>
          </a:bodyPr>
          <a:lstStyle/>
          <a:p>
            <a:r>
              <a:rPr lang="en-US" sz="3200" dirty="0">
                <a:solidFill>
                  <a:schemeClr val="accent1">
                    <a:lumMod val="75000"/>
                  </a:schemeClr>
                </a:solidFill>
                <a:latin typeface="+mn-lt"/>
              </a:rPr>
              <a:t>General Customer Demographics</a:t>
            </a:r>
            <a:endParaRPr lang="en-IN" sz="3200" dirty="0">
              <a:solidFill>
                <a:schemeClr val="accent1">
                  <a:lumMod val="75000"/>
                </a:schemeClr>
              </a:solidFill>
              <a:latin typeface="+mn-lt"/>
            </a:endParaRPr>
          </a:p>
        </p:txBody>
      </p:sp>
      <p:pic>
        <p:nvPicPr>
          <p:cNvPr id="9" name="Picture 8">
            <a:extLst>
              <a:ext uri="{FF2B5EF4-FFF2-40B4-BE49-F238E27FC236}">
                <a16:creationId xmlns:a16="http://schemas.microsoft.com/office/drawing/2014/main" id="{3CF2DB6B-6A3B-7C55-54D9-844736ED8794}"/>
              </a:ext>
            </a:extLst>
          </p:cNvPr>
          <p:cNvPicPr>
            <a:picLocks noChangeAspect="1"/>
          </p:cNvPicPr>
          <p:nvPr/>
        </p:nvPicPr>
        <p:blipFill>
          <a:blip r:embed="rId2"/>
          <a:stretch>
            <a:fillRect/>
          </a:stretch>
        </p:blipFill>
        <p:spPr>
          <a:xfrm>
            <a:off x="630809" y="964183"/>
            <a:ext cx="10717121" cy="5439534"/>
          </a:xfrm>
          <a:prstGeom prst="rect">
            <a:avLst/>
          </a:prstGeom>
        </p:spPr>
      </p:pic>
    </p:spTree>
    <p:extLst>
      <p:ext uri="{BB962C8B-B14F-4D97-AF65-F5344CB8AC3E}">
        <p14:creationId xmlns:p14="http://schemas.microsoft.com/office/powerpoint/2010/main" val="205736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AE026-2174-F866-C74F-F8D2C6871E6E}"/>
              </a:ext>
            </a:extLst>
          </p:cNvPr>
          <p:cNvSpPr>
            <a:spLocks noGrp="1"/>
          </p:cNvSpPr>
          <p:nvPr>
            <p:ph type="title"/>
          </p:nvPr>
        </p:nvSpPr>
        <p:spPr>
          <a:xfrm>
            <a:off x="838200" y="365125"/>
            <a:ext cx="10515600" cy="887205"/>
          </a:xfrm>
        </p:spPr>
        <p:txBody>
          <a:bodyPr>
            <a:normAutofit/>
          </a:bodyPr>
          <a:lstStyle/>
          <a:p>
            <a:r>
              <a:rPr lang="en-US" sz="3200" dirty="0">
                <a:solidFill>
                  <a:schemeClr val="accent1">
                    <a:lumMod val="75000"/>
                  </a:schemeClr>
                </a:solidFill>
              </a:rPr>
              <a:t>General</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A52DBBFF-F08D-AD4D-267D-F1CA92EEC9F3}"/>
              </a:ext>
            </a:extLst>
          </p:cNvPr>
          <p:cNvSpPr>
            <a:spLocks noGrp="1"/>
          </p:cNvSpPr>
          <p:nvPr>
            <p:ph idx="1"/>
          </p:nvPr>
        </p:nvSpPr>
        <p:spPr>
          <a:xfrm>
            <a:off x="838200" y="1378364"/>
            <a:ext cx="10515600" cy="4351338"/>
          </a:xfrm>
        </p:spPr>
        <p:txBody>
          <a:bodyPr>
            <a:normAutofit/>
          </a:bodyPr>
          <a:lstStyle/>
          <a:p>
            <a:r>
              <a:rPr lang="en-US" sz="2000" dirty="0">
                <a:solidFill>
                  <a:schemeClr val="accent1">
                    <a:lumMod val="75000"/>
                  </a:schemeClr>
                </a:solidFill>
              </a:rPr>
              <a:t>Most customers using credit card are IT employees who have average salary between 40k and 70k.</a:t>
            </a:r>
          </a:p>
          <a:p>
            <a:r>
              <a:rPr lang="en-US" sz="2000" dirty="0">
                <a:solidFill>
                  <a:schemeClr val="accent1">
                    <a:lumMod val="75000"/>
                  </a:schemeClr>
                </a:solidFill>
              </a:rPr>
              <a:t>Credit card is mostly used for paying bills. Secondly for electronics.</a:t>
            </a:r>
          </a:p>
          <a:p>
            <a:r>
              <a:rPr lang="en-US" sz="2000" dirty="0">
                <a:solidFill>
                  <a:schemeClr val="accent1">
                    <a:lumMod val="75000"/>
                  </a:schemeClr>
                </a:solidFill>
              </a:rPr>
              <a:t>Most customers are married using credit card mostly for paying bills. Unmarried people use credit cards mostly for electronics.</a:t>
            </a:r>
          </a:p>
          <a:p>
            <a:r>
              <a:rPr lang="en-US" sz="2000" dirty="0">
                <a:solidFill>
                  <a:schemeClr val="accent1">
                    <a:lumMod val="75000"/>
                  </a:schemeClr>
                </a:solidFill>
              </a:rPr>
              <a:t>Most customers in general and using credit card are male.</a:t>
            </a:r>
          </a:p>
          <a:p>
            <a:r>
              <a:rPr lang="en-US" sz="2000" dirty="0">
                <a:solidFill>
                  <a:schemeClr val="accent1">
                    <a:lumMod val="75000"/>
                  </a:schemeClr>
                </a:solidFill>
              </a:rPr>
              <a:t>Most customers live in Mumbai</a:t>
            </a:r>
          </a:p>
          <a:p>
            <a:r>
              <a:rPr lang="en-US" sz="2000" dirty="0">
                <a:solidFill>
                  <a:schemeClr val="accent1">
                    <a:lumMod val="75000"/>
                  </a:schemeClr>
                </a:solidFill>
              </a:rPr>
              <a:t>Age groups of actively credit card using customers are 25-34 and 35-45.</a:t>
            </a:r>
          </a:p>
          <a:p>
            <a:r>
              <a:rPr lang="en-US" sz="2000" dirty="0">
                <a:solidFill>
                  <a:schemeClr val="accent1">
                    <a:lumMod val="75000"/>
                  </a:schemeClr>
                </a:solidFill>
              </a:rPr>
              <a:t>Most expensive month is September</a:t>
            </a:r>
            <a:r>
              <a:rPr lang="en-US" sz="2000" dirty="0"/>
              <a:t>		</a:t>
            </a:r>
          </a:p>
          <a:p>
            <a:pPr marL="0" indent="0">
              <a:buNone/>
            </a:pPr>
            <a:endParaRPr lang="en-US" dirty="0"/>
          </a:p>
          <a:p>
            <a:endParaRPr lang="en-US" dirty="0"/>
          </a:p>
          <a:p>
            <a:endParaRPr lang="en-IN" dirty="0"/>
          </a:p>
        </p:txBody>
      </p:sp>
    </p:spTree>
    <p:extLst>
      <p:ext uri="{BB962C8B-B14F-4D97-AF65-F5344CB8AC3E}">
        <p14:creationId xmlns:p14="http://schemas.microsoft.com/office/powerpoint/2010/main" val="376690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AB5D5-0AF2-A198-FA86-E622CFD7F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7E8E5-0E2C-D10D-F300-4F587A391229}"/>
              </a:ext>
            </a:extLst>
          </p:cNvPr>
          <p:cNvSpPr>
            <a:spLocks noGrp="1"/>
          </p:cNvSpPr>
          <p:nvPr>
            <p:ph type="title"/>
          </p:nvPr>
        </p:nvSpPr>
        <p:spPr>
          <a:xfrm>
            <a:off x="838200" y="842393"/>
            <a:ext cx="10412896" cy="668545"/>
          </a:xfrm>
        </p:spPr>
        <p:txBody>
          <a:bodyPr>
            <a:normAutofit/>
          </a:bodyPr>
          <a:lstStyle/>
          <a:p>
            <a:r>
              <a:rPr lang="en-US" sz="3200" dirty="0">
                <a:solidFill>
                  <a:schemeClr val="accent1">
                    <a:lumMod val="75000"/>
                  </a:schemeClr>
                </a:solidFill>
                <a:latin typeface="+mn-lt"/>
              </a:rPr>
              <a:t>General Customer Demographics</a:t>
            </a:r>
            <a:endParaRPr lang="en-IN" sz="3200"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id="{E67FC4A2-4DBE-0CA1-B22A-8428275F8F2C}"/>
              </a:ext>
            </a:extLst>
          </p:cNvPr>
          <p:cNvSpPr>
            <a:spLocks noGrp="1"/>
          </p:cNvSpPr>
          <p:nvPr>
            <p:ph idx="1"/>
          </p:nvPr>
        </p:nvSpPr>
        <p:spPr>
          <a:xfrm>
            <a:off x="786848" y="5879908"/>
            <a:ext cx="10515600" cy="490192"/>
          </a:xfrm>
        </p:spPr>
        <p:txBody>
          <a:bodyPr/>
          <a:lstStyle/>
          <a:p>
            <a:endParaRPr lang="en-IN" dirty="0"/>
          </a:p>
        </p:txBody>
      </p:sp>
      <p:pic>
        <p:nvPicPr>
          <p:cNvPr id="5" name="Picture 4">
            <a:extLst>
              <a:ext uri="{FF2B5EF4-FFF2-40B4-BE49-F238E27FC236}">
                <a16:creationId xmlns:a16="http://schemas.microsoft.com/office/drawing/2014/main" id="{21E0BACC-520E-7AE1-1103-D4F82AD6DFA4}"/>
              </a:ext>
            </a:extLst>
          </p:cNvPr>
          <p:cNvPicPr>
            <a:picLocks noChangeAspect="1"/>
          </p:cNvPicPr>
          <p:nvPr/>
        </p:nvPicPr>
        <p:blipFill>
          <a:blip r:embed="rId2"/>
          <a:stretch>
            <a:fillRect/>
          </a:stretch>
        </p:blipFill>
        <p:spPr>
          <a:xfrm>
            <a:off x="838200" y="2127163"/>
            <a:ext cx="4944165" cy="3219899"/>
          </a:xfrm>
          <a:prstGeom prst="rect">
            <a:avLst/>
          </a:prstGeom>
        </p:spPr>
      </p:pic>
      <p:pic>
        <p:nvPicPr>
          <p:cNvPr id="7" name="Picture 6">
            <a:extLst>
              <a:ext uri="{FF2B5EF4-FFF2-40B4-BE49-F238E27FC236}">
                <a16:creationId xmlns:a16="http://schemas.microsoft.com/office/drawing/2014/main" id="{F5F2D10E-63D8-7DC9-CC99-3B611E94F0AD}"/>
              </a:ext>
            </a:extLst>
          </p:cNvPr>
          <p:cNvPicPr>
            <a:picLocks noChangeAspect="1"/>
          </p:cNvPicPr>
          <p:nvPr/>
        </p:nvPicPr>
        <p:blipFill>
          <a:blip r:embed="rId3"/>
          <a:stretch>
            <a:fillRect/>
          </a:stretch>
        </p:blipFill>
        <p:spPr>
          <a:xfrm>
            <a:off x="6044648" y="2127163"/>
            <a:ext cx="4763165" cy="3210373"/>
          </a:xfrm>
          <a:prstGeom prst="rect">
            <a:avLst/>
          </a:prstGeom>
        </p:spPr>
      </p:pic>
    </p:spTree>
    <p:extLst>
      <p:ext uri="{BB962C8B-B14F-4D97-AF65-F5344CB8AC3E}">
        <p14:creationId xmlns:p14="http://schemas.microsoft.com/office/powerpoint/2010/main" val="245594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99D14-0419-5766-9E69-17E9BEC7F57E}"/>
              </a:ext>
            </a:extLst>
          </p:cNvPr>
          <p:cNvSpPr>
            <a:spLocks noGrp="1"/>
          </p:cNvSpPr>
          <p:nvPr>
            <p:ph type="title"/>
          </p:nvPr>
        </p:nvSpPr>
        <p:spPr>
          <a:xfrm>
            <a:off x="876693" y="365125"/>
            <a:ext cx="10477106" cy="483287"/>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D54BAEE-B7B1-BA47-7C64-0297A9C39574}"/>
              </a:ext>
            </a:extLst>
          </p:cNvPr>
          <p:cNvSpPr>
            <a:spLocks noGrp="1"/>
          </p:cNvSpPr>
          <p:nvPr>
            <p:ph idx="1"/>
          </p:nvPr>
        </p:nvSpPr>
        <p:spPr>
          <a:xfrm>
            <a:off x="5964025" y="2381953"/>
            <a:ext cx="4469091" cy="597063"/>
          </a:xfrm>
        </p:spPr>
        <p:txBody>
          <a:bodyPr/>
          <a:lstStyle/>
          <a:p>
            <a:pPr>
              <a:buFont typeface="Wingdings" panose="05000000000000000000" pitchFamily="2" charset="2"/>
              <a:buChar char="Ø"/>
            </a:pPr>
            <a:r>
              <a:rPr lang="en-US" sz="2000" dirty="0">
                <a:solidFill>
                  <a:schemeClr val="accent1">
                    <a:lumMod val="75000"/>
                  </a:schemeClr>
                </a:solidFill>
              </a:rPr>
              <a:t>Most customers live in Mumbai</a:t>
            </a:r>
          </a:p>
          <a:p>
            <a:pPr marL="0" indent="0">
              <a:buNone/>
            </a:pPr>
            <a:endParaRPr lang="en-IN" dirty="0"/>
          </a:p>
        </p:txBody>
      </p:sp>
      <p:pic>
        <p:nvPicPr>
          <p:cNvPr id="6" name="Picture 5">
            <a:extLst>
              <a:ext uri="{FF2B5EF4-FFF2-40B4-BE49-F238E27FC236}">
                <a16:creationId xmlns:a16="http://schemas.microsoft.com/office/drawing/2014/main" id="{0D1002E1-40DE-BB6C-F970-2B7441936C54}"/>
              </a:ext>
            </a:extLst>
          </p:cNvPr>
          <p:cNvPicPr>
            <a:picLocks noChangeAspect="1"/>
          </p:cNvPicPr>
          <p:nvPr/>
        </p:nvPicPr>
        <p:blipFill>
          <a:blip r:embed="rId2"/>
          <a:stretch>
            <a:fillRect/>
          </a:stretch>
        </p:blipFill>
        <p:spPr>
          <a:xfrm>
            <a:off x="1196673" y="1104576"/>
            <a:ext cx="3486637" cy="2324424"/>
          </a:xfrm>
          <a:prstGeom prst="rect">
            <a:avLst/>
          </a:prstGeom>
        </p:spPr>
      </p:pic>
      <p:pic>
        <p:nvPicPr>
          <p:cNvPr id="7" name="Picture 6">
            <a:extLst>
              <a:ext uri="{FF2B5EF4-FFF2-40B4-BE49-F238E27FC236}">
                <a16:creationId xmlns:a16="http://schemas.microsoft.com/office/drawing/2014/main" id="{E6467226-B881-F569-A028-171171F68B52}"/>
              </a:ext>
            </a:extLst>
          </p:cNvPr>
          <p:cNvPicPr>
            <a:picLocks noChangeAspect="1"/>
          </p:cNvPicPr>
          <p:nvPr/>
        </p:nvPicPr>
        <p:blipFill>
          <a:blip r:embed="rId3"/>
          <a:stretch>
            <a:fillRect/>
          </a:stretch>
        </p:blipFill>
        <p:spPr>
          <a:xfrm>
            <a:off x="678198" y="3587157"/>
            <a:ext cx="6013064" cy="2688768"/>
          </a:xfrm>
          <a:prstGeom prst="rect">
            <a:avLst/>
          </a:prstGeom>
        </p:spPr>
      </p:pic>
      <p:sp>
        <p:nvSpPr>
          <p:cNvPr id="8" name="Content Placeholder 2">
            <a:extLst>
              <a:ext uri="{FF2B5EF4-FFF2-40B4-BE49-F238E27FC236}">
                <a16:creationId xmlns:a16="http://schemas.microsoft.com/office/drawing/2014/main" id="{4D433B8C-2BFA-CF0D-BD8F-5EA0A248D003}"/>
              </a:ext>
            </a:extLst>
          </p:cNvPr>
          <p:cNvSpPr txBox="1">
            <a:spLocks/>
          </p:cNvSpPr>
          <p:nvPr/>
        </p:nvSpPr>
        <p:spPr>
          <a:xfrm>
            <a:off x="5964025" y="4323400"/>
            <a:ext cx="5364636" cy="6081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dirty="0">
                <a:solidFill>
                  <a:schemeClr val="accent1">
                    <a:lumMod val="75000"/>
                  </a:schemeClr>
                </a:solidFill>
              </a:rPr>
              <a:t>Most expensive month is September		</a:t>
            </a:r>
          </a:p>
        </p:txBody>
      </p:sp>
    </p:spTree>
    <p:extLst>
      <p:ext uri="{BB962C8B-B14F-4D97-AF65-F5344CB8AC3E}">
        <p14:creationId xmlns:p14="http://schemas.microsoft.com/office/powerpoint/2010/main" val="3524713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32BFF-3391-F569-E137-4BD0F6739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108E2-77EF-263A-66D3-FA25A6C42AA9}"/>
              </a:ext>
            </a:extLst>
          </p:cNvPr>
          <p:cNvSpPr>
            <a:spLocks noGrp="1"/>
          </p:cNvSpPr>
          <p:nvPr>
            <p:ph type="title"/>
          </p:nvPr>
        </p:nvSpPr>
        <p:spPr>
          <a:xfrm>
            <a:off x="1007883" y="449966"/>
            <a:ext cx="10515600" cy="867327"/>
          </a:xfrm>
        </p:spPr>
        <p:txBody>
          <a:bodyPr>
            <a:normAutofit/>
          </a:bodyPr>
          <a:lstStyle/>
          <a:p>
            <a:r>
              <a:rPr lang="en-US" sz="3200" dirty="0">
                <a:solidFill>
                  <a:schemeClr val="accent1">
                    <a:lumMod val="75000"/>
                  </a:schemeClr>
                </a:solidFill>
                <a:latin typeface="+mn-lt"/>
                <a:cs typeface="Arial" panose="020B0604020202020204" pitchFamily="34" charset="0"/>
              </a:rPr>
              <a:t>Average Salary &amp; Occupation</a:t>
            </a:r>
            <a:endParaRPr lang="en-IN" sz="3200" dirty="0">
              <a:solidFill>
                <a:schemeClr val="accent1">
                  <a:lumMod val="75000"/>
                </a:schemeClr>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F641840A-7BF9-A411-8087-9414A5E6C57A}"/>
              </a:ext>
            </a:extLst>
          </p:cNvPr>
          <p:cNvSpPr>
            <a:spLocks noGrp="1"/>
          </p:cNvSpPr>
          <p:nvPr>
            <p:ph idx="1"/>
          </p:nvPr>
        </p:nvSpPr>
        <p:spPr>
          <a:xfrm>
            <a:off x="7001994" y="1657872"/>
            <a:ext cx="4385585" cy="1640701"/>
          </a:xfrm>
        </p:spPr>
        <p:txBody>
          <a:bodyPr/>
          <a:lstStyle/>
          <a:p>
            <a:r>
              <a:rPr lang="en-US" sz="1800" dirty="0">
                <a:solidFill>
                  <a:schemeClr val="accent1">
                    <a:lumMod val="75000"/>
                  </a:schemeClr>
                </a:solidFill>
              </a:rPr>
              <a:t>Majority of the customers belong to average salary of 30k, 40k and 60k.</a:t>
            </a:r>
          </a:p>
          <a:p>
            <a:r>
              <a:rPr lang="en-US" sz="1800" dirty="0">
                <a:solidFill>
                  <a:schemeClr val="accent1">
                    <a:lumMod val="75000"/>
                  </a:schemeClr>
                </a:solidFill>
              </a:rPr>
              <a:t>Most of them are Salaried IT Employees, Freelancers and Salaried Other Employees.</a:t>
            </a:r>
          </a:p>
          <a:p>
            <a:endParaRPr lang="en-US" sz="1800" dirty="0">
              <a:solidFill>
                <a:srgbClr val="0070C0"/>
              </a:solidFill>
            </a:endParaRPr>
          </a:p>
        </p:txBody>
      </p:sp>
      <p:pic>
        <p:nvPicPr>
          <p:cNvPr id="4" name="Picture 3">
            <a:extLst>
              <a:ext uri="{FF2B5EF4-FFF2-40B4-BE49-F238E27FC236}">
                <a16:creationId xmlns:a16="http://schemas.microsoft.com/office/drawing/2014/main" id="{99F2D08E-8A07-4F8A-D9D2-B94EB363E6CD}"/>
              </a:ext>
            </a:extLst>
          </p:cNvPr>
          <p:cNvPicPr>
            <a:picLocks noChangeAspect="1"/>
          </p:cNvPicPr>
          <p:nvPr/>
        </p:nvPicPr>
        <p:blipFill>
          <a:blip r:embed="rId2"/>
          <a:stretch>
            <a:fillRect/>
          </a:stretch>
        </p:blipFill>
        <p:spPr>
          <a:xfrm>
            <a:off x="1262406" y="1471313"/>
            <a:ext cx="5551052" cy="4713988"/>
          </a:xfrm>
          <a:prstGeom prst="rect">
            <a:avLst/>
          </a:prstGeom>
        </p:spPr>
      </p:pic>
      <p:pic>
        <p:nvPicPr>
          <p:cNvPr id="6" name="Picture 5">
            <a:extLst>
              <a:ext uri="{FF2B5EF4-FFF2-40B4-BE49-F238E27FC236}">
                <a16:creationId xmlns:a16="http://schemas.microsoft.com/office/drawing/2014/main" id="{98D9CAEB-E044-6407-56EE-B4F175FBE6EA}"/>
              </a:ext>
            </a:extLst>
          </p:cNvPr>
          <p:cNvPicPr>
            <a:picLocks noChangeAspect="1"/>
          </p:cNvPicPr>
          <p:nvPr/>
        </p:nvPicPr>
        <p:blipFill>
          <a:blip r:embed="rId3"/>
          <a:stretch>
            <a:fillRect/>
          </a:stretch>
        </p:blipFill>
        <p:spPr>
          <a:xfrm>
            <a:off x="7001994" y="3429000"/>
            <a:ext cx="4030946" cy="2625873"/>
          </a:xfrm>
          <a:prstGeom prst="rect">
            <a:avLst/>
          </a:prstGeom>
        </p:spPr>
      </p:pic>
    </p:spTree>
    <p:extLst>
      <p:ext uri="{BB962C8B-B14F-4D97-AF65-F5344CB8AC3E}">
        <p14:creationId xmlns:p14="http://schemas.microsoft.com/office/powerpoint/2010/main" val="3446276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15140-C3DE-1AD2-79BE-2995DEC8D486}"/>
              </a:ext>
            </a:extLst>
          </p:cNvPr>
          <p:cNvSpPr>
            <a:spLocks noGrp="1"/>
          </p:cNvSpPr>
          <p:nvPr>
            <p:ph type="title"/>
          </p:nvPr>
        </p:nvSpPr>
        <p:spPr>
          <a:xfrm>
            <a:off x="838200" y="382436"/>
            <a:ext cx="10515600" cy="862192"/>
          </a:xfrm>
        </p:spPr>
        <p:txBody>
          <a:bodyPr>
            <a:normAutofit/>
          </a:bodyPr>
          <a:lstStyle/>
          <a:p>
            <a:r>
              <a:rPr lang="en-US" sz="3200" dirty="0">
                <a:solidFill>
                  <a:schemeClr val="accent1">
                    <a:lumMod val="75000"/>
                  </a:schemeClr>
                </a:solidFill>
                <a:latin typeface="+mn-lt"/>
                <a:cs typeface="Arial" panose="020B0604020202020204" pitchFamily="34" charset="0"/>
              </a:rPr>
              <a:t>Average Salary &amp; Occupation</a:t>
            </a:r>
            <a:endParaRPr lang="en-IN" sz="3200" dirty="0">
              <a:solidFill>
                <a:schemeClr val="accent1">
                  <a:lumMod val="75000"/>
                </a:schemeClr>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2B5B80AE-53F8-C609-0238-418A0523B4F2}"/>
              </a:ext>
            </a:extLst>
          </p:cNvPr>
          <p:cNvSpPr>
            <a:spLocks noGrp="1"/>
          </p:cNvSpPr>
          <p:nvPr>
            <p:ph idx="1"/>
          </p:nvPr>
        </p:nvSpPr>
        <p:spPr>
          <a:xfrm>
            <a:off x="1235766" y="1371267"/>
            <a:ext cx="5451565" cy="1804454"/>
          </a:xfrm>
        </p:spPr>
        <p:txBody>
          <a:bodyPr/>
          <a:lstStyle/>
          <a:p>
            <a:r>
              <a:rPr lang="en-US" sz="1800" dirty="0">
                <a:solidFill>
                  <a:schemeClr val="accent1">
                    <a:lumMod val="75000"/>
                  </a:schemeClr>
                </a:solidFill>
              </a:rPr>
              <a:t>Most customers using credit card are IT employees who have average salary between 40k and 70k.</a:t>
            </a:r>
          </a:p>
          <a:p>
            <a:r>
              <a:rPr lang="en-US" sz="1800" dirty="0">
                <a:solidFill>
                  <a:schemeClr val="accent1">
                    <a:lumMod val="75000"/>
                  </a:schemeClr>
                </a:solidFill>
              </a:rPr>
              <a:t>Following credit card usage is by Freelancers and Salaries other employees who have average salary between 20k and 40k.</a:t>
            </a:r>
          </a:p>
        </p:txBody>
      </p:sp>
      <p:pic>
        <p:nvPicPr>
          <p:cNvPr id="6" name="Picture 5">
            <a:extLst>
              <a:ext uri="{FF2B5EF4-FFF2-40B4-BE49-F238E27FC236}">
                <a16:creationId xmlns:a16="http://schemas.microsoft.com/office/drawing/2014/main" id="{FA9495E9-7366-3B2A-3DDE-A5AC6E2CF991}"/>
              </a:ext>
            </a:extLst>
          </p:cNvPr>
          <p:cNvPicPr>
            <a:picLocks noChangeAspect="1"/>
          </p:cNvPicPr>
          <p:nvPr/>
        </p:nvPicPr>
        <p:blipFill>
          <a:blip r:embed="rId2"/>
          <a:stretch>
            <a:fillRect/>
          </a:stretch>
        </p:blipFill>
        <p:spPr>
          <a:xfrm>
            <a:off x="838200" y="3175721"/>
            <a:ext cx="5551052" cy="3311154"/>
          </a:xfrm>
          <a:prstGeom prst="rect">
            <a:avLst/>
          </a:prstGeom>
        </p:spPr>
      </p:pic>
      <p:pic>
        <p:nvPicPr>
          <p:cNvPr id="8" name="Picture 7">
            <a:extLst>
              <a:ext uri="{FF2B5EF4-FFF2-40B4-BE49-F238E27FC236}">
                <a16:creationId xmlns:a16="http://schemas.microsoft.com/office/drawing/2014/main" id="{58FDD4A5-BC8B-C697-236B-A75B9C730B2F}"/>
              </a:ext>
            </a:extLst>
          </p:cNvPr>
          <p:cNvPicPr>
            <a:picLocks noChangeAspect="1"/>
          </p:cNvPicPr>
          <p:nvPr/>
        </p:nvPicPr>
        <p:blipFill>
          <a:blip r:embed="rId3"/>
          <a:stretch>
            <a:fillRect/>
          </a:stretch>
        </p:blipFill>
        <p:spPr>
          <a:xfrm>
            <a:off x="6623126" y="659010"/>
            <a:ext cx="4879714" cy="5816554"/>
          </a:xfrm>
          <a:prstGeom prst="rect">
            <a:avLst/>
          </a:prstGeom>
        </p:spPr>
      </p:pic>
    </p:spTree>
    <p:extLst>
      <p:ext uri="{BB962C8B-B14F-4D97-AF65-F5344CB8AC3E}">
        <p14:creationId xmlns:p14="http://schemas.microsoft.com/office/powerpoint/2010/main" val="4063018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4D453-B445-E23B-C2F3-184B512DC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30750-46DA-491A-6536-61BE9881CE95}"/>
              </a:ext>
            </a:extLst>
          </p:cNvPr>
          <p:cNvSpPr>
            <a:spLocks noGrp="1"/>
          </p:cNvSpPr>
          <p:nvPr>
            <p:ph type="title"/>
          </p:nvPr>
        </p:nvSpPr>
        <p:spPr>
          <a:xfrm>
            <a:off x="838200" y="382436"/>
            <a:ext cx="10515600" cy="862192"/>
          </a:xfrm>
        </p:spPr>
        <p:txBody>
          <a:bodyPr>
            <a:normAutofit/>
          </a:bodyPr>
          <a:lstStyle/>
          <a:p>
            <a:r>
              <a:rPr lang="en-US" sz="3200" dirty="0">
                <a:solidFill>
                  <a:schemeClr val="accent1">
                    <a:lumMod val="75000"/>
                  </a:schemeClr>
                </a:solidFill>
                <a:latin typeface="+mn-lt"/>
                <a:cs typeface="Arial" panose="020B0604020202020204" pitchFamily="34" charset="0"/>
              </a:rPr>
              <a:t>Average Salary &amp; Occupation</a:t>
            </a:r>
            <a:endParaRPr lang="en-IN" sz="3200" dirty="0">
              <a:solidFill>
                <a:schemeClr val="accent1">
                  <a:lumMod val="75000"/>
                </a:schemeClr>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F12A9512-34A1-B018-996F-EB05E1E891C1}"/>
              </a:ext>
            </a:extLst>
          </p:cNvPr>
          <p:cNvSpPr>
            <a:spLocks noGrp="1"/>
          </p:cNvSpPr>
          <p:nvPr>
            <p:ph idx="1"/>
          </p:nvPr>
        </p:nvSpPr>
        <p:spPr>
          <a:xfrm>
            <a:off x="1108768" y="1464421"/>
            <a:ext cx="5400704" cy="1437921"/>
          </a:xfrm>
        </p:spPr>
        <p:txBody>
          <a:bodyPr/>
          <a:lstStyle/>
          <a:p>
            <a:r>
              <a:rPr lang="en-US" sz="1800" dirty="0">
                <a:solidFill>
                  <a:schemeClr val="accent1">
                    <a:lumMod val="75000"/>
                  </a:schemeClr>
                </a:solidFill>
              </a:rPr>
              <a:t>Business Owners are a potential group of credit card users.</a:t>
            </a:r>
          </a:p>
          <a:p>
            <a:r>
              <a:rPr lang="en-US" sz="1800" dirty="0">
                <a:solidFill>
                  <a:schemeClr val="accent1">
                    <a:lumMod val="75000"/>
                  </a:schemeClr>
                </a:solidFill>
              </a:rPr>
              <a:t>But they are very less in number among our customers. </a:t>
            </a:r>
          </a:p>
        </p:txBody>
      </p:sp>
      <p:pic>
        <p:nvPicPr>
          <p:cNvPr id="8" name="Picture 7">
            <a:extLst>
              <a:ext uri="{FF2B5EF4-FFF2-40B4-BE49-F238E27FC236}">
                <a16:creationId xmlns:a16="http://schemas.microsoft.com/office/drawing/2014/main" id="{2551B6F6-F5E6-D319-97E2-89799DBC725E}"/>
              </a:ext>
            </a:extLst>
          </p:cNvPr>
          <p:cNvPicPr>
            <a:picLocks noChangeAspect="1"/>
          </p:cNvPicPr>
          <p:nvPr/>
        </p:nvPicPr>
        <p:blipFill>
          <a:blip r:embed="rId2"/>
          <a:stretch>
            <a:fillRect/>
          </a:stretch>
        </p:blipFill>
        <p:spPr>
          <a:xfrm>
            <a:off x="6780040" y="801051"/>
            <a:ext cx="4879714" cy="5816554"/>
          </a:xfrm>
          <a:prstGeom prst="rect">
            <a:avLst/>
          </a:prstGeom>
        </p:spPr>
      </p:pic>
      <p:pic>
        <p:nvPicPr>
          <p:cNvPr id="5" name="Picture 4">
            <a:extLst>
              <a:ext uri="{FF2B5EF4-FFF2-40B4-BE49-F238E27FC236}">
                <a16:creationId xmlns:a16="http://schemas.microsoft.com/office/drawing/2014/main" id="{D0D11662-260F-42D1-3830-2933A58CB59C}"/>
              </a:ext>
            </a:extLst>
          </p:cNvPr>
          <p:cNvPicPr>
            <a:picLocks noChangeAspect="1"/>
          </p:cNvPicPr>
          <p:nvPr/>
        </p:nvPicPr>
        <p:blipFill>
          <a:blip r:embed="rId3"/>
          <a:stretch>
            <a:fillRect/>
          </a:stretch>
        </p:blipFill>
        <p:spPr>
          <a:xfrm>
            <a:off x="532246" y="2977757"/>
            <a:ext cx="6254572" cy="3564433"/>
          </a:xfrm>
          <a:prstGeom prst="rect">
            <a:avLst/>
          </a:prstGeom>
        </p:spPr>
      </p:pic>
    </p:spTree>
    <p:extLst>
      <p:ext uri="{BB962C8B-B14F-4D97-AF65-F5344CB8AC3E}">
        <p14:creationId xmlns:p14="http://schemas.microsoft.com/office/powerpoint/2010/main" val="2053309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F2027-CE38-70DD-DFA8-5BB3EB3217C3}"/>
              </a:ext>
            </a:extLst>
          </p:cNvPr>
          <p:cNvSpPr>
            <a:spLocks noGrp="1"/>
          </p:cNvSpPr>
          <p:nvPr>
            <p:ph type="title"/>
          </p:nvPr>
        </p:nvSpPr>
        <p:spPr>
          <a:xfrm>
            <a:off x="1095080" y="261602"/>
            <a:ext cx="10515600" cy="857388"/>
          </a:xfrm>
        </p:spPr>
        <p:txBody>
          <a:bodyPr>
            <a:normAutofit/>
          </a:bodyPr>
          <a:lstStyle/>
          <a:p>
            <a:r>
              <a:rPr lang="en-US" sz="3200" dirty="0">
                <a:solidFill>
                  <a:schemeClr val="accent1">
                    <a:lumMod val="75000"/>
                  </a:schemeClr>
                </a:solidFill>
                <a:latin typeface="+mn-lt"/>
              </a:rPr>
              <a:t>Categories</a:t>
            </a:r>
            <a:endParaRPr lang="en-IN" sz="3200" dirty="0">
              <a:solidFill>
                <a:schemeClr val="accent1">
                  <a:lumMod val="75000"/>
                </a:schemeClr>
              </a:solidFill>
              <a:latin typeface="+mn-lt"/>
            </a:endParaRPr>
          </a:p>
        </p:txBody>
      </p:sp>
      <p:sp>
        <p:nvSpPr>
          <p:cNvPr id="3" name="Content Placeholder 2">
            <a:extLst>
              <a:ext uri="{FF2B5EF4-FFF2-40B4-BE49-F238E27FC236}">
                <a16:creationId xmlns:a16="http://schemas.microsoft.com/office/drawing/2014/main" id="{1FB5A0C5-B139-EF31-FD23-B200C9319CCA}"/>
              </a:ext>
            </a:extLst>
          </p:cNvPr>
          <p:cNvSpPr>
            <a:spLocks noGrp="1"/>
          </p:cNvSpPr>
          <p:nvPr>
            <p:ph idx="1"/>
          </p:nvPr>
        </p:nvSpPr>
        <p:spPr>
          <a:xfrm>
            <a:off x="1095080" y="4520603"/>
            <a:ext cx="9425233" cy="1738795"/>
          </a:xfrm>
        </p:spPr>
        <p:txBody>
          <a:bodyPr/>
          <a:lstStyle/>
          <a:p>
            <a:r>
              <a:rPr lang="en-US" sz="1800" dirty="0">
                <a:solidFill>
                  <a:schemeClr val="accent1">
                    <a:lumMod val="75000"/>
                  </a:schemeClr>
                </a:solidFill>
              </a:rPr>
              <a:t>Credit card is mostly used for paying bills. Secondly for electronics.</a:t>
            </a:r>
          </a:p>
          <a:p>
            <a:r>
              <a:rPr lang="en-US" sz="1800" dirty="0">
                <a:solidFill>
                  <a:schemeClr val="accent1">
                    <a:lumMod val="75000"/>
                  </a:schemeClr>
                </a:solidFill>
              </a:rPr>
              <a:t>Next categories where credit card is mostly used are Health &amp; Wellness, Travel and Groceries.</a:t>
            </a:r>
          </a:p>
          <a:p>
            <a:r>
              <a:rPr lang="en-US" sz="1800" dirty="0">
                <a:solidFill>
                  <a:schemeClr val="accent1">
                    <a:lumMod val="75000"/>
                  </a:schemeClr>
                </a:solidFill>
              </a:rPr>
              <a:t>Groceries are mostly paid using </a:t>
            </a:r>
            <a:r>
              <a:rPr lang="en-US" sz="1800" dirty="0" err="1">
                <a:solidFill>
                  <a:schemeClr val="accent1">
                    <a:lumMod val="75000"/>
                  </a:schemeClr>
                </a:solidFill>
              </a:rPr>
              <a:t>upi</a:t>
            </a:r>
            <a:r>
              <a:rPr lang="en-US" sz="1800" dirty="0">
                <a:solidFill>
                  <a:schemeClr val="accent1">
                    <a:lumMod val="75000"/>
                  </a:schemeClr>
                </a:solidFill>
              </a:rPr>
              <a:t> than credit card.</a:t>
            </a:r>
          </a:p>
          <a:p>
            <a:r>
              <a:rPr lang="en-US" sz="1800" dirty="0">
                <a:solidFill>
                  <a:schemeClr val="accent1">
                    <a:lumMod val="75000"/>
                  </a:schemeClr>
                </a:solidFill>
              </a:rPr>
              <a:t>Married customers use credit card mostly for paying bills. Unmarried use it mostly for electronics.</a:t>
            </a:r>
          </a:p>
          <a:p>
            <a:endParaRPr lang="en-IN" dirty="0"/>
          </a:p>
        </p:txBody>
      </p:sp>
      <p:pic>
        <p:nvPicPr>
          <p:cNvPr id="7" name="Picture 6">
            <a:extLst>
              <a:ext uri="{FF2B5EF4-FFF2-40B4-BE49-F238E27FC236}">
                <a16:creationId xmlns:a16="http://schemas.microsoft.com/office/drawing/2014/main" id="{9EAE75FC-2E14-BA59-BC63-CD667F4993C7}"/>
              </a:ext>
            </a:extLst>
          </p:cNvPr>
          <p:cNvPicPr>
            <a:picLocks noChangeAspect="1"/>
          </p:cNvPicPr>
          <p:nvPr/>
        </p:nvPicPr>
        <p:blipFill>
          <a:blip r:embed="rId2"/>
          <a:stretch>
            <a:fillRect/>
          </a:stretch>
        </p:blipFill>
        <p:spPr>
          <a:xfrm>
            <a:off x="2223940" y="1118990"/>
            <a:ext cx="7365729" cy="3256428"/>
          </a:xfrm>
          <a:prstGeom prst="rect">
            <a:avLst/>
          </a:prstGeom>
        </p:spPr>
      </p:pic>
    </p:spTree>
    <p:extLst>
      <p:ext uri="{BB962C8B-B14F-4D97-AF65-F5344CB8AC3E}">
        <p14:creationId xmlns:p14="http://schemas.microsoft.com/office/powerpoint/2010/main" val="3113923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BDCF-C114-2746-0F0C-46C12A220140}"/>
              </a:ext>
            </a:extLst>
          </p:cNvPr>
          <p:cNvSpPr>
            <a:spLocks noGrp="1"/>
          </p:cNvSpPr>
          <p:nvPr>
            <p:ph type="title"/>
          </p:nvPr>
        </p:nvSpPr>
        <p:spPr>
          <a:xfrm>
            <a:off x="1049857" y="365126"/>
            <a:ext cx="10412896" cy="539336"/>
          </a:xfrm>
        </p:spPr>
        <p:txBody>
          <a:bodyPr>
            <a:normAutofit/>
          </a:bodyPr>
          <a:lstStyle/>
          <a:p>
            <a:r>
              <a:rPr lang="en-US" sz="3200" dirty="0">
                <a:solidFill>
                  <a:schemeClr val="accent1">
                    <a:lumMod val="75000"/>
                  </a:schemeClr>
                </a:solidFill>
                <a:latin typeface="+mn-lt"/>
              </a:rPr>
              <a:t>Spending Pattern According to Marital Status</a:t>
            </a:r>
            <a:endParaRPr lang="en-IN" sz="3200" dirty="0">
              <a:solidFill>
                <a:schemeClr val="accent1">
                  <a:lumMod val="75000"/>
                </a:schemeClr>
              </a:solidFill>
              <a:latin typeface="+mn-lt"/>
            </a:endParaRPr>
          </a:p>
        </p:txBody>
      </p:sp>
      <p:pic>
        <p:nvPicPr>
          <p:cNvPr id="7" name="Picture 6">
            <a:extLst>
              <a:ext uri="{FF2B5EF4-FFF2-40B4-BE49-F238E27FC236}">
                <a16:creationId xmlns:a16="http://schemas.microsoft.com/office/drawing/2014/main" id="{9DE2B935-2EFC-A3AB-9C0B-1CEAE0DF4E7C}"/>
              </a:ext>
            </a:extLst>
          </p:cNvPr>
          <p:cNvPicPr>
            <a:picLocks noChangeAspect="1"/>
          </p:cNvPicPr>
          <p:nvPr/>
        </p:nvPicPr>
        <p:blipFill>
          <a:blip r:embed="rId2"/>
          <a:stretch>
            <a:fillRect/>
          </a:stretch>
        </p:blipFill>
        <p:spPr>
          <a:xfrm>
            <a:off x="4050696" y="1000886"/>
            <a:ext cx="6884911" cy="2736534"/>
          </a:xfrm>
          <a:prstGeom prst="rect">
            <a:avLst/>
          </a:prstGeom>
        </p:spPr>
      </p:pic>
      <p:pic>
        <p:nvPicPr>
          <p:cNvPr id="9" name="Picture 8">
            <a:extLst>
              <a:ext uri="{FF2B5EF4-FFF2-40B4-BE49-F238E27FC236}">
                <a16:creationId xmlns:a16="http://schemas.microsoft.com/office/drawing/2014/main" id="{E5DC8F43-323F-FB6B-40B2-F883B823B1F0}"/>
              </a:ext>
            </a:extLst>
          </p:cNvPr>
          <p:cNvPicPr>
            <a:picLocks noChangeAspect="1"/>
          </p:cNvPicPr>
          <p:nvPr/>
        </p:nvPicPr>
        <p:blipFill>
          <a:blip r:embed="rId3"/>
          <a:stretch>
            <a:fillRect/>
          </a:stretch>
        </p:blipFill>
        <p:spPr>
          <a:xfrm>
            <a:off x="1049857" y="3833844"/>
            <a:ext cx="6863474" cy="2736534"/>
          </a:xfrm>
          <a:prstGeom prst="rect">
            <a:avLst/>
          </a:prstGeom>
        </p:spPr>
      </p:pic>
      <p:sp>
        <p:nvSpPr>
          <p:cNvPr id="10" name="TextBox 9">
            <a:extLst>
              <a:ext uri="{FF2B5EF4-FFF2-40B4-BE49-F238E27FC236}">
                <a16:creationId xmlns:a16="http://schemas.microsoft.com/office/drawing/2014/main" id="{24F1A358-EA4D-2701-00F9-44AC2DD63D8C}"/>
              </a:ext>
            </a:extLst>
          </p:cNvPr>
          <p:cNvSpPr txBox="1"/>
          <p:nvPr/>
        </p:nvSpPr>
        <p:spPr>
          <a:xfrm>
            <a:off x="1368217" y="1710158"/>
            <a:ext cx="1669774" cy="70788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000" dirty="0">
                <a:solidFill>
                  <a:srgbClr val="002060"/>
                </a:solidFill>
              </a:rPr>
              <a:t>Expenses of Married</a:t>
            </a:r>
            <a:endParaRPr lang="en-IN" sz="2000" dirty="0">
              <a:solidFill>
                <a:srgbClr val="002060"/>
              </a:solidFill>
            </a:endParaRPr>
          </a:p>
        </p:txBody>
      </p:sp>
      <p:sp>
        <p:nvSpPr>
          <p:cNvPr id="12" name="TextBox 11">
            <a:extLst>
              <a:ext uri="{FF2B5EF4-FFF2-40B4-BE49-F238E27FC236}">
                <a16:creationId xmlns:a16="http://schemas.microsoft.com/office/drawing/2014/main" id="{1BB5A819-EB82-64AF-228A-989E8236A38E}"/>
              </a:ext>
            </a:extLst>
          </p:cNvPr>
          <p:cNvSpPr txBox="1"/>
          <p:nvPr/>
        </p:nvSpPr>
        <p:spPr>
          <a:xfrm>
            <a:off x="8843329" y="4768655"/>
            <a:ext cx="1709530" cy="70788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000" dirty="0">
                <a:solidFill>
                  <a:srgbClr val="002060"/>
                </a:solidFill>
              </a:rPr>
              <a:t>Expenses of Unmarried</a:t>
            </a:r>
            <a:endParaRPr lang="en-IN" sz="2000" dirty="0">
              <a:solidFill>
                <a:srgbClr val="002060"/>
              </a:solidFill>
            </a:endParaRPr>
          </a:p>
        </p:txBody>
      </p:sp>
      <p:sp>
        <p:nvSpPr>
          <p:cNvPr id="13" name="Arrow: Right 12">
            <a:extLst>
              <a:ext uri="{FF2B5EF4-FFF2-40B4-BE49-F238E27FC236}">
                <a16:creationId xmlns:a16="http://schemas.microsoft.com/office/drawing/2014/main" id="{89307912-2284-4AE1-9B87-57CE9D93E00F}"/>
              </a:ext>
            </a:extLst>
          </p:cNvPr>
          <p:cNvSpPr/>
          <p:nvPr/>
        </p:nvSpPr>
        <p:spPr>
          <a:xfrm>
            <a:off x="3340591" y="1971411"/>
            <a:ext cx="407504" cy="185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711B3649-6281-2B8F-243F-72FD1994CB62}"/>
              </a:ext>
            </a:extLst>
          </p:cNvPr>
          <p:cNvSpPr/>
          <p:nvPr/>
        </p:nvSpPr>
        <p:spPr>
          <a:xfrm rot="10800000">
            <a:off x="8174578" y="5030704"/>
            <a:ext cx="407504" cy="183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683128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6C16A-6F8D-DE3F-A915-C503A07A47B0}"/>
              </a:ext>
            </a:extLst>
          </p:cNvPr>
          <p:cNvSpPr>
            <a:spLocks noGrp="1"/>
          </p:cNvSpPr>
          <p:nvPr>
            <p:ph type="title"/>
          </p:nvPr>
        </p:nvSpPr>
        <p:spPr>
          <a:xfrm>
            <a:off x="838200" y="576470"/>
            <a:ext cx="10515600" cy="606287"/>
          </a:xfrm>
        </p:spPr>
        <p:txBody>
          <a:bodyPr>
            <a:normAutofit/>
          </a:bodyPr>
          <a:lstStyle/>
          <a:p>
            <a:r>
              <a:rPr lang="en-US" sz="3200" dirty="0"/>
              <a:t>Insights</a:t>
            </a:r>
            <a:endParaRPr lang="en-IN" sz="3200" dirty="0"/>
          </a:p>
        </p:txBody>
      </p:sp>
      <p:sp>
        <p:nvSpPr>
          <p:cNvPr id="3" name="Content Placeholder 2">
            <a:extLst>
              <a:ext uri="{FF2B5EF4-FFF2-40B4-BE49-F238E27FC236}">
                <a16:creationId xmlns:a16="http://schemas.microsoft.com/office/drawing/2014/main" id="{57908A42-80BB-046A-9405-E2E24F38C372}"/>
              </a:ext>
            </a:extLst>
          </p:cNvPr>
          <p:cNvSpPr>
            <a:spLocks noGrp="1"/>
          </p:cNvSpPr>
          <p:nvPr>
            <p:ph idx="1"/>
          </p:nvPr>
        </p:nvSpPr>
        <p:spPr>
          <a:xfrm>
            <a:off x="838199" y="1368424"/>
            <a:ext cx="10631557" cy="4823653"/>
          </a:xfrm>
        </p:spPr>
        <p:txBody>
          <a:bodyPr>
            <a:normAutofit/>
          </a:bodyPr>
          <a:lstStyle/>
          <a:p>
            <a:r>
              <a:rPr lang="en-US" sz="2000" dirty="0"/>
              <a:t>Most customers using credit card are IT employees who have average salary between 40k and 70k.</a:t>
            </a:r>
          </a:p>
          <a:p>
            <a:r>
              <a:rPr lang="en-US" sz="2000" dirty="0"/>
              <a:t>Following credit card usage is by Freelancers and Salaries other employees who have average salary between 20k and 40k.</a:t>
            </a:r>
          </a:p>
          <a:p>
            <a:r>
              <a:rPr lang="en-US" sz="2000" dirty="0"/>
              <a:t>Credit card is mostly used for paying bills. Secondly for electronics.</a:t>
            </a:r>
          </a:p>
          <a:p>
            <a:r>
              <a:rPr lang="en-US" sz="2000" dirty="0"/>
              <a:t>Next categories where is credit card is mostly used are Health &amp; Wellness, Travel and Groceries.</a:t>
            </a:r>
          </a:p>
          <a:p>
            <a:r>
              <a:rPr lang="en-US" sz="2000" dirty="0"/>
              <a:t>Groceries are mostly paid using </a:t>
            </a:r>
            <a:r>
              <a:rPr lang="en-US" sz="2000" dirty="0" err="1"/>
              <a:t>upi</a:t>
            </a:r>
            <a:r>
              <a:rPr lang="en-US" sz="2000" dirty="0"/>
              <a:t> than credit card.</a:t>
            </a:r>
          </a:p>
          <a:p>
            <a:r>
              <a:rPr lang="en-US" sz="2000" dirty="0"/>
              <a:t>Most customers are married using credit card mostly for paying bills. Unmarried people use credit cards mostly for electronics.</a:t>
            </a:r>
          </a:p>
          <a:p>
            <a:r>
              <a:rPr lang="en-US" sz="2000" dirty="0"/>
              <a:t>Most customers in general and using credit card are male.</a:t>
            </a:r>
          </a:p>
          <a:p>
            <a:endParaRPr lang="en-US" sz="2000" dirty="0"/>
          </a:p>
          <a:p>
            <a:endParaRPr lang="en-US" sz="2000" dirty="0"/>
          </a:p>
        </p:txBody>
      </p:sp>
    </p:spTree>
    <p:extLst>
      <p:ext uri="{BB962C8B-B14F-4D97-AF65-F5344CB8AC3E}">
        <p14:creationId xmlns:p14="http://schemas.microsoft.com/office/powerpoint/2010/main" val="1712077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40097</TotalTime>
  <Words>668</Words>
  <Application>Microsoft Office PowerPoint</Application>
  <PresentationFormat>Widescreen</PresentationFormat>
  <Paragraphs>53</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Mitron Bank: Analysis for New Credit Card Launch</vt:lpstr>
      <vt:lpstr>Objective</vt:lpstr>
      <vt:lpstr>Sample Dataset</vt:lpstr>
      <vt:lpstr>Project Requirements</vt:lpstr>
      <vt:lpstr>General Customer Demographics</vt:lpstr>
      <vt:lpstr>General</vt:lpstr>
      <vt:lpstr>General Customer Demographics</vt:lpstr>
      <vt:lpstr>PowerPoint Presentation</vt:lpstr>
      <vt:lpstr>Average Salary &amp; Occupation</vt:lpstr>
      <vt:lpstr>Average Salary &amp; Occupation</vt:lpstr>
      <vt:lpstr>Average Salary &amp; Occupation</vt:lpstr>
      <vt:lpstr>Categories</vt:lpstr>
      <vt:lpstr>Spending Pattern According to Marital Status</vt:lpstr>
      <vt:lpstr>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Mariya Kurian</dc:creator>
  <cp:lastModifiedBy>Mariya Kurian</cp:lastModifiedBy>
  <cp:revision>7</cp:revision>
  <dcterms:created xsi:type="dcterms:W3CDTF">2025-10-17T12:02:29Z</dcterms:created>
  <dcterms:modified xsi:type="dcterms:W3CDTF">2025-11-14T08:20:16Z</dcterms:modified>
</cp:coreProperties>
</file>